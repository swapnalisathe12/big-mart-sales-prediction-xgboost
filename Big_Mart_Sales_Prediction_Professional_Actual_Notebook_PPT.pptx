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BIG 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0097A7"/>
                </a:solidFill>
                <a:latin typeface="Aptos"/>
              </a:defRPr>
            </a:pPr>
            <a:r>
              <a:t>SALES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0">
                <a:solidFill>
                  <a:srgbClr val="CDDBE4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10128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AABECA"/>
                </a:solidFill>
                <a:latin typeface="Aptos"/>
              </a:defRPr>
            </a:pPr>
            <a:r>
              <a:t>XGBoost Regressor  •  Python  •  Pandas  •  Scikit-learn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5230368"/>
            <a:ext cx="192024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44068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AABECA"/>
                </a:solidFill>
                <a:latin typeface="Aptos"/>
              </a:defRPr>
            </a:pPr>
            <a:r>
              <a:t>Executed notebook based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notebook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8,523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463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46304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1664208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99339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11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463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46304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664208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99339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XGBRegressor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463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46304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664208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99339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Item_Outlet_Sales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461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0F1F32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303C48"/>
                </a:solidFill>
                <a:latin typeface="Aptos"/>
              </a:defRPr>
            </a:pPr>
            <a:r>
              <a:t>Load → Clean → Analyze → Encode → Split → Train → Evaluate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code and first-row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4663440" cy="91440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# first 5 rows of the dataframe</a:t>
            </a:r>
            <a:br/>
            <a:r>
              <a:t>big_mart_data.head()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69848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Item_Identifier  Item_Weight  ...        Outlet_Type  Item_Outlet_Sales</a:t>
            </a:r>
            <a:br/>
            <a:r>
              <a:t>0           FDA15         9.30  ...  Supermarket Type1          3735.1380</a:t>
            </a:r>
            <a:br/>
            <a:r>
              <a:t>1           DRC01         5.92  ...  Supermarket Type2           443.4228</a:t>
            </a:r>
            <a:br/>
            <a:r>
              <a:t>2           FDN15        17.50  ...  Supermarket Type1          2097.2700</a:t>
            </a:r>
            <a:br/>
            <a:r>
              <a:t>3           FDX07        19.20  ...      Grocery Store           732.3800</a:t>
            </a:r>
            <a:br/>
            <a:r>
              <a:t>4           NCD19         8.93  ...  Supermarket Type1           994.7052</a:t>
            </a:r>
            <a:br/>
            <a:br/>
            <a:r>
              <a:t>[5 rows x 12 columns]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Dataset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shape and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840480" cy="77724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# number of data points &amp; number of features</a:t>
            </a:r>
            <a:br/>
            <a:r>
              <a:t>big_mart_data.shape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0097A7"/>
                </a:solidFill>
                <a:latin typeface="Aptos"/>
              </a:defRPr>
            </a:pPr>
            <a:r>
              <a:t>(8523, 12)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371600"/>
            <a:ext cx="6537960" cy="77724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# getting some information about thye dataset</a:t>
            </a:r>
            <a:br/>
            <a:r>
              <a:t>big_mart_data.info()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286000"/>
            <a:ext cx="621792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303C48"/>
                </a:solidFill>
                <a:latin typeface="Aptos"/>
              </a:defRPr>
            </a:pPr>
            <a:r>
              <a:t>&lt;class 'pandas.core.frame.DataFrame'&gt;</a:t>
            </a:r>
            <a:br/>
            <a:r>
              <a:t>RangeIndex: 8523 entries, 0 to 8522</a:t>
            </a:r>
            <a:br/>
            <a:r>
              <a:t>Data columns (total 12 columns):</a:t>
            </a:r>
            <a:br/>
            <a:r>
              <a:t> #   Column                     Non-Null Count  Dtype  </a:t>
            </a:r>
            <a:br/>
            <a:r>
              <a:t>---  ------                     --------------  -----  </a:t>
            </a:r>
            <a:br/>
            <a:r>
              <a:t> 0   Item_Identifier            8523 non-null   object </a:t>
            </a:r>
            <a:br/>
            <a:r>
              <a:t> 1   Item_Weight                7060 non-null   float64</a:t>
            </a:r>
            <a:br/>
            <a:r>
              <a:t> 2   Item_Fat_Content           8523 non-null   object </a:t>
            </a:r>
            <a:br/>
            <a:r>
              <a:t> 3   Item_Visibility            8523 non-null   float64</a:t>
            </a:r>
            <a:br/>
            <a:r>
              <a:t> 4   Item_Type                  8523 non-null   object </a:t>
            </a:r>
            <a:br/>
            <a:r>
              <a:t> 5   Item_MRP                   8523 non-null   float64</a:t>
            </a:r>
            <a:br/>
            <a:r>
              <a:t> 6   Outlet_Identifier          8523 non-null   object </a:t>
            </a:r>
            <a:br/>
            <a:r>
              <a:t> 7   Outlet_Establishment_Year  8523 non-null   int64  </a:t>
            </a:r>
            <a:br/>
            <a:r>
              <a:t> 8   Outlet_Size                6113 non-null   object </a:t>
            </a:r>
            <a:br/>
            <a:r>
              <a:t> 9   Outlet_Location_Type       8523 non-null   object </a:t>
            </a:r>
            <a:br/>
            <a:r>
              <a:t> 10  Outlet_Type                8523 non-null   object </a:t>
            </a:r>
            <a:br/>
            <a:r>
              <a:t> 11  Item_Outlet_Sales          8523 non-null   float64</a:t>
            </a:r>
            <a:br/>
            <a:r>
              <a:t>dtypes: float64(4), int64(1), object(7)</a:t>
            </a:r>
            <a:br/>
            <a:r>
              <a:t>memory usage: 799.2+ KB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Data quality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Missing values before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4754880" cy="77724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# checking for missing values</a:t>
            </a:r>
            <a:br/>
            <a:r>
              <a:t>big_mart_data.isnull().sum()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466344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Item_Identifier                 0</a:t>
            </a:r>
            <a:br/>
            <a:r>
              <a:t>Item_Weight                  1463</a:t>
            </a:r>
            <a:br/>
            <a:r>
              <a:t>Item_Fat_Content                0</a:t>
            </a:r>
            <a:br/>
            <a:r>
              <a:t>Item_Visibility                 0</a:t>
            </a:r>
            <a:br/>
            <a:r>
              <a:t>Item_Type                       0</a:t>
            </a:r>
            <a:br/>
            <a:r>
              <a:t>Item_MRP                        0</a:t>
            </a:r>
            <a:br/>
            <a:r>
              <a:t>Outlet_Identifier               0</a:t>
            </a:r>
            <a:br/>
            <a:r>
              <a:t>Outlet_Establishment_Year       0</a:t>
            </a:r>
            <a:br/>
            <a:r>
              <a:t>Outlet_Size                  2410</a:t>
            </a:r>
            <a:br/>
            <a:r>
              <a:t>Outlet_Location_Type            0</a:t>
            </a:r>
            <a:br/>
            <a:r>
              <a:t>Outlet_Type                     0</a:t>
            </a:r>
            <a:br/>
            <a:r>
              <a:t>Item_Outlet_Sales               0</a:t>
            </a:r>
            <a:br/>
            <a:r>
              <a:t>dtype: int64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0876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099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ITEM_WEIGHT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39112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1,463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0876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50876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70992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OUTLET_SIZE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39112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2,410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46120"/>
            <a:ext cx="4663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These are the two missing-value fields shown by the actual notebook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Missing-value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notebook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577840" cy="182880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# mean value of "Item_Weight" column</a:t>
            </a:r>
            <a:br/>
            <a:r>
              <a:t>big_mart_data['Item_Weight'].mean()</a:t>
            </a:r>
            <a:br/>
            <a:br/>
            <a:r>
              <a:t># mode of "Outlet_Size" column</a:t>
            </a:r>
            <a:br/>
            <a:r>
              <a:t>big_mart_data['Outlet_Size'].mode()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41732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18488"/>
            <a:ext cx="1783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MEAN ITEM_WEIGHT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47672"/>
            <a:ext cx="1783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12.8576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141732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18488"/>
            <a:ext cx="1783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MODE OUTLET_SIZE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47672"/>
            <a:ext cx="1783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303C48"/>
                </a:solidFill>
                <a:latin typeface="Aptos"/>
              </a:defRPr>
            </a:pPr>
            <a:r>
              <a:t>Outlet size is filled according to Outlet_Type using the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69080"/>
            <a:ext cx="5577840" cy="73152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# checking for missing values</a:t>
            </a:r>
            <a:br/>
            <a:r>
              <a:t>big_mart_data.isnull().sum()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Item_Identifier              0</a:t>
            </a:r>
            <a:br/>
            <a:r>
              <a:t>Item_Weight                  0</a:t>
            </a:r>
            <a:br/>
            <a:r>
              <a:t>Item_Fat_Content             0</a:t>
            </a:r>
            <a:br/>
            <a:r>
              <a:t>Item_Visibility              0</a:t>
            </a:r>
            <a:br/>
            <a:r>
              <a:t>Item_Type                    0</a:t>
            </a:r>
            <a:br/>
            <a:r>
              <a:t>Item_MRP                     0</a:t>
            </a:r>
            <a:br/>
            <a:r>
              <a:t>Outlet_Identifier            0</a:t>
            </a:r>
            <a:br/>
            <a:r>
              <a:t>Outlet_Establishment_Year    0</a:t>
            </a:r>
            <a:br/>
            <a:r>
              <a:t>Outlet_Size                  0</a:t>
            </a:r>
            <a:br/>
            <a:r>
              <a:t>Outlet_Location_Type         0</a:t>
            </a:r>
            <a:br/>
            <a:r>
              <a:t>Outlet_Type                  0</a:t>
            </a:r>
            <a:br/>
            <a:r>
              <a:t>Item_Outlet_Sales            0</a:t>
            </a:r>
            <a:br/>
            <a:r>
              <a:t>dtype: int64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Categorical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Standardizing Item_Fat_Content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4937760" cy="77724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big_mart_data['Item_Fat_Content'].value_counts()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4663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03C48"/>
                </a:solidFill>
                <a:latin typeface="Aptos"/>
              </a:defRPr>
            </a:pPr>
            <a:r>
              <a:t>Item_Fat_Content</a:t>
            </a:r>
            <a:br/>
            <a:r>
              <a:t>Low Fat    5089</a:t>
            </a:r>
            <a:br/>
            <a:r>
              <a:t>Regular    2889</a:t>
            </a:r>
            <a:br/>
            <a:r>
              <a:t>LF          316</a:t>
            </a:r>
            <a:br/>
            <a:r>
              <a:t>reg         117</a:t>
            </a:r>
            <a:br/>
            <a:r>
              <a:t>low fat     112</a:t>
            </a:r>
            <a:br/>
            <a:r>
              <a:t>Name: count, dtype: int64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71600"/>
            <a:ext cx="5257800" cy="91440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big_mart_data.replace({'Item_Fat_Content': {'low fat':'Low Fat','LF':'Low Fat', 'reg':'Regular'}}, inplace=True)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6032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0F1F32"/>
                </a:solidFill>
                <a:latin typeface="Aptos"/>
              </a:defRPr>
            </a:pPr>
            <a:r>
              <a:t>low fat + LF → Low Fat</a:t>
            </a:r>
            <a:br/>
            <a:r>
              <a:t>reg → Regular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4572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03C48"/>
                </a:solidFill>
                <a:latin typeface="Aptos"/>
              </a:defRPr>
            </a:pPr>
            <a:r>
              <a:t>Item_Fat_Content</a:t>
            </a:r>
            <a:br/>
            <a:r>
              <a:t>Low Fat    5517</a:t>
            </a:r>
            <a:br/>
            <a:r>
              <a:t>Regular    3006</a:t>
            </a:r>
            <a:br/>
            <a:r>
              <a:t>Name: count, dtype: int64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graph outputs from the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07492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6432"/>
            <a:ext cx="4754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97887"/>
                </a:solidFill>
                <a:latin typeface="Aptos"/>
              </a:defRPr>
            </a:pPr>
            <a:r>
              <a:t>Notebook output • cell 24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07492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6792" y="3456432"/>
            <a:ext cx="4754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97887"/>
                </a:solidFill>
                <a:latin typeface="Aptos"/>
              </a:defRPr>
            </a:pPr>
            <a:r>
              <a:t>Notebook output • cell 25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507492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5925312"/>
            <a:ext cx="4754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97887"/>
                </a:solidFill>
                <a:latin typeface="Aptos"/>
              </a:defRPr>
            </a:pPr>
            <a:r>
              <a:t>Notebook output • cell 26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40480"/>
            <a:ext cx="507492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36792" y="5925312"/>
            <a:ext cx="4754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697887"/>
                </a:solidFill>
                <a:latin typeface="Aptos"/>
              </a:defRPr>
            </a:pPr>
            <a:r>
              <a:t>Notebook output • cell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Feature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LabelEncoder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972800" cy="237744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big_mart_data['Item_Identifier'] = encoder.fit_transform(big_mart_data['Item_Identifier'])</a:t>
            </a:r>
            <a:br/>
            <a:br/>
            <a:r>
              <a:t>big_mart_data['Item_Fat_Content'] = encoder.fit_transform(big_mart_data['Item_Fat_Content'])</a:t>
            </a:r>
            <a:br/>
            <a:br/>
            <a:r>
              <a:t>big_mart_data['Item_Type'] = encoder.fit_transform(big_mart_data['Item_Type'])</a:t>
            </a:r>
            <a:br/>
            <a:br/>
            <a:r>
              <a:t>big_mart_data['Outlet_Identifier'] = encoder.fit_transform(big_mart_data['Outlet_Identifier'])</a:t>
            </a:r>
            <a:br/>
            <a:br/>
            <a:r>
              <a:t>big_mart_data['Outlet_Size'] = encoder.fit_transform(big_mart_data['Outlet_Size'])</a:t>
            </a:r>
            <a:br/>
            <a:br/>
            <a:r>
              <a:t>big_mart_data['Outlet_Location_Type'] = encoder.fit_transform(big_mart_data['Outlet_Location_Type'])</a:t>
            </a:r>
            <a:br/>
            <a:br/>
            <a:r>
              <a:t>big_mart_data['Outlet_Type'] = encoder.fit_transform(big_mart_data['Outlet_Type'])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6052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0F1F32"/>
                </a:solidFill>
                <a:latin typeface="Aptos"/>
              </a:defRPr>
            </a:pPr>
            <a:r>
              <a:t>Categorical features converted to numeric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61772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303C48"/>
                </a:solidFill>
                <a:latin typeface="Aptos"/>
              </a:defRPr>
            </a:pPr>
            <a:r>
              <a:t>Item_Identifier  •  Item_Fat_Content  •  Item_Type  •  Outlet_Identifier</a:t>
            </a:r>
            <a:br/>
            <a:r>
              <a:t>Outlet_Size  •  Outlet_Location_Type  •  Outlet_Type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Train / test split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notebook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257800" cy="182880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X_train, X_test, Y_train, Y_test = train_test_split(X, Y, test_size=0.2, random_state=2)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257800" cy="182880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900">
                <a:solidFill>
                  <a:srgbClr val="FFFFFF"/>
                </a:solidFill>
                <a:latin typeface="Consolas"/>
              </a:defRPr>
            </a:pPr>
            <a:r>
              <a:t>regressor = XGBRegressor()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8736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TRAINING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16552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6,818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88620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88620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08736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TESTING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16552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1,705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88620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388620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08736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416552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XGBRegressor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Actual R²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972800" cy="960120"/>
          </a:xfrm>
          <a:prstGeom prst="round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# R squared Value</a:t>
            </a:r>
            <a:br/>
            <a:r>
              <a:t>r2_test = metrics.r2_score(Y_test, test_data_prediction)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8036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81528"/>
            <a:ext cx="402335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TRAINING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4023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87.51%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88036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288036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081528"/>
            <a:ext cx="402335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TESTING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10712"/>
            <a:ext cx="4023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51.56%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303C48"/>
                </a:solidFill>
                <a:latin typeface="Aptos"/>
              </a:defRPr>
            </a:pPr>
            <a:r>
              <a:t>Metric: R² (R-squared)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80060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303C48"/>
                </a:solidFill>
                <a:latin typeface="Aptos"/>
              </a:defRPr>
            </a:pPr>
            <a:r>
              <a:t>Values shown are the executed notebook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Result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Training vs testing 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571411"/>
            <a:ext cx="1828800" cy="2960708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159931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F1F32"/>
                </a:solidFill>
                <a:latin typeface="Aptos"/>
              </a:defRPr>
            </a:pPr>
            <a:r>
              <a:t>87.51%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568756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303C48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787700"/>
            <a:ext cx="1828800" cy="1744419"/>
          </a:xfrm>
          <a:prstGeom prst="round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3762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F1F32"/>
                </a:solidFill>
                <a:latin typeface="Aptos"/>
              </a:defRPr>
            </a:pPr>
            <a:r>
              <a:t>51.56%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68756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303C4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9966960" cy="18288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End-to-end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Train.csv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21992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9624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77256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Encode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LabelEncoder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6060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6978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60152" y="1965960"/>
            <a:ext cx="129844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210312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0097A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256032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0F1F32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3035808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303C48"/>
                </a:solidFill>
                <a:latin typeface="Aptos"/>
              </a:defRPr>
            </a:pPr>
            <a:r>
              <a:t>R²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0F1F3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697887"/>
                </a:solidFill>
                <a:latin typeface="Aptos"/>
              </a:defRPr>
            </a:pPr>
            <a:r>
              <a:t>Summary based on the executed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2004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0097A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97887"/>
                </a:solidFill>
                <a:latin typeface="Aptos"/>
              </a:defRPr>
            </a:pPr>
            <a:r>
              <a:t>Big Mart Sales Prediction  |  Actual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F1F32"/>
                </a:solidFill>
                <a:latin typeface="Aptos"/>
              </a:defRPr>
            </a:pPr>
            <a:r>
              <a:t>A complete regression workflow was implemented using the provided Big Mart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303C48"/>
                </a:solidFill>
                <a:latin typeface="Aptos"/>
              </a:defRPr>
            </a:pPr>
            <a:r>
              <a:t>Data inspection  •  Missing-value treatment  •  Categorical cleanup  •  Label encoding</a:t>
            </a:r>
            <a:br/>
            <a:r>
              <a:t>Train/test split  •  XGBoost regression  •  R²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94760"/>
            <a:ext cx="4206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794760"/>
            <a:ext cx="64008" cy="1234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995928"/>
            <a:ext cx="38404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TRAINING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25112"/>
            <a:ext cx="38404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87.51%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794760"/>
            <a:ext cx="4206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794760"/>
            <a:ext cx="64008" cy="1234440"/>
          </a:xfrm>
          <a:prstGeom prst="rect">
            <a:avLst/>
          </a:prstGeom>
          <a:solidFill>
            <a:srgbClr val="31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995928"/>
            <a:ext cx="38404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697887"/>
                </a:solidFill>
                <a:latin typeface="Aptos"/>
              </a:defRPr>
            </a:pPr>
            <a:r>
              <a:t>TESTING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325112"/>
            <a:ext cx="38404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F32"/>
                </a:solidFill>
                <a:latin typeface="Aptos"/>
              </a:defRPr>
            </a:pPr>
            <a:r>
              <a:t>51.56%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F1F3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